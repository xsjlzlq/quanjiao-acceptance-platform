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83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1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全椒县县级验收管理平台的使用培训。本次培训旨在帮助大家熟悉和掌握“第二轮土地承包到期后再延长三十年试点工作成果检查验收系统”的各项功能，确保验收工作的顺利、高效开展。接下来，我们将详细介绍系统的操作流程和核心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培训将分为八个章节。首先，我们将从系统概述和快速入门开始，了解如何登录系统和熟悉主界面。接着，会依次讲解任务管理、内业核查、外业核查、得分评定、自查整改、批量导出以及系统设置等核心功能模块。希望通过本次培训，大家能对整个验收流程有一个全面清晰的认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系统的登录。大家需要打开浏览器，输入指定的网址，进入这个登录界面。界面非常简洁，只需要输入您的账号和密码，点击登录按钮，就能进入系统开始工作了。请大家务必保管好自己的账号信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登录成功后，我们就来到了系统的首页工作台。这里是所有工作的起点，集成了七大核心功能模块，从系统设置、任务抽样，到内外业核查、得分评定，再到整改和导出，完整覆盖了验收工作的全流程。大家可以看到，界面布局清晰，逻辑一目了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进入第二章，任务管理与抽样。首先是自查申请管理。这项工作主要由县级管理员负责。大家可以在这里查看各乡镇提交的自查申请，下载标准的申请表模板，以及上传乡镇提交的申请表扫描件进行电子化归档，方便后续查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抽样是验收工作的关键环节。系统提供了三种抽样方式。第一种是按村组手动抽样，适用于需要对特定村组进行精准核查的场景。大家可以看到，我们只需逐级选择到具体的村民小组，系统会自动计算默认抽样数，当然也可以手动指定，非常灵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方式是按乡镇自动抽样。当我们需要对整个乡镇进行随机抽查时，这种方式最高效。只需选择乡镇，系统就会自动在该乡镇内随机选取2到5个组，并在每个组内随机抽取5%的农户，整个过程一键完成，保证了抽样的随机性和公正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方式是按导入表格抽样。如果专家组已经通过其他方式确定了抽样名单，可以将名单整理成指定格式的Excel表格，直接上传到系统中。系统会根据表格内容进行抽样，这种方式非常适合需要批量导入或有特殊抽样要求的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章我们来学习内业核查。内业核查主要是对软件资料进行审查，总分70分，分为机制运行、程序规范、政策落实和工作成效四个模块。操作非常直观，我们只需根据实际情况勾选发现的问题，系统会自动扣分。特别要注意的是，对于扣分项目，一定要上传凭证，做到有理有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内业核查的具体操作界面。大家可以看到，界面上方会实时显示当前得分。下方是四个核查模块的详细表单。我们在发现问题时，只需勾选对应的选项，系统就会自动扣分。同时，别忘了上传扣分凭证，这是保证验收工作严谨性的重要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内业核查完成后，我们可以导出相应的表格。如果选择的是具体乡镇，可以导出该乡镇的详细检查记录表，也就是附件6。如果选择的是县级，则可以导出全县的得分汇总表，即附件7，方便我们进行整体的分析和对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章是外业核查，也就是我们的实地走访环节。我们需要根据之前的抽样结果，对抽到的农户和地块进行现场核实。核查内容包括农户信息和地块信息两大块。操作时，我们只需在系统中找到对应的农户，对发现的错误项进行标记，系统会自动计算扣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外业核查完成后，同样可以导出相关表格。在“外业核查”页面，我们可以导出单个发包方的检查记录表，即附件8。如果需要全县的汇总数据，可以到“附件导出”模块，选择县级，导出外业得分表，也就是附件9，方便进行全面的数据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外业核查中，我们还有一个重要功能——现场问询笔录。这个功能可以帮助我们规范地记录与农户的访谈内容。系统提供了标准的问题清单，我们只需按照流程填写和勾选，就能生成一份格式规范、具有法律效力的询问笔录，为验收工作提供有力的补充证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章是得分评定。这个页面是整个验收工作的核心汇总。上方的得分看板会直观展示内业和外业的各项得分，并实时计算总分。下方的特殊情形扣分区域，允许我们根据实际情况对一些不符合要求的行为进行额外扣分，确保评定结果的公平公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有评分和扣分完成后，系统会根据最终得分自动给出验收结果，比如优秀或合格。在这个页面，我们可以导出两个非常重要的文件：附件10，自查得分汇总表，它详细列出了各项得分；以及附件11，自查验收评定表，这是我们验收工作的最终结论文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六章是自查整改。发现问题是第一步，解决问题才是关键。在这个模块，我们可以针对核查中发现的问题，生成正式的整改通知书（附件12）下发给责任单位。同时，系统会生成问题整改销号台账（附件13），帮助我们跟踪整改进度，实现问题的闭环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章是批量导出功能。当我们需要归档或上报全套验收资料时，这个功能非常实用。我们可以选择县级或乡镇级，然后勾选需要导出的所有附件，点击一键打包，系统就会将这些文件压缩成一个ZIP包供我们下载，大大提高了工作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章是系统设置。这部分主要由系统管理员操作，包括用户账号和权限的管理，支持手动添加和批量导入。用户也可以在这里修改自己的密码。此外，还有一个重要功能是数据入库，县级实施单位可以通过这个功能将底层的权属、地块等数据导入系统，为整个验收工作提供数据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的，以上就是本次培训的全部内容。我们系统地学习了从任务抽样到最终评定和整改的全流程操作。希望大家通过这次培训，能够熟练掌握平台的使用。接下来是问答环节，大家有什么问题可以随时提出。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svg"/><Relationship Id="rId7" Type="http://schemas.openxmlformats.org/officeDocument/2006/relationships/image" Target="../media/image32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29.jpe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7.svg"/><Relationship Id="rId11" Type="http://schemas.openxmlformats.org/officeDocument/2006/relationships/image" Target="../media/image36.png"/><Relationship Id="rId10" Type="http://schemas.openxmlformats.org/officeDocument/2006/relationships/image" Target="../media/image35.sv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38.jpe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4.svg"/><Relationship Id="rId11" Type="http://schemas.openxmlformats.org/officeDocument/2006/relationships/image" Target="../media/image43.png"/><Relationship Id="rId10" Type="http://schemas.openxmlformats.org/officeDocument/2006/relationships/image" Target="../media/image42.sv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0.svg"/><Relationship Id="rId3" Type="http://schemas.openxmlformats.org/officeDocument/2006/relationships/image" Target="../media/image39.png"/><Relationship Id="rId2" Type="http://schemas.openxmlformats.org/officeDocument/2006/relationships/image" Target="../media/image45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svg"/><Relationship Id="rId8" Type="http://schemas.openxmlformats.org/officeDocument/2006/relationships/image" Target="../media/image54.png"/><Relationship Id="rId7" Type="http://schemas.openxmlformats.org/officeDocument/2006/relationships/image" Target="../media/image53.svg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7.svg"/><Relationship Id="rId10" Type="http://schemas.openxmlformats.org/officeDocument/2006/relationships/image" Target="../media/image56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2.svg"/><Relationship Id="rId7" Type="http://schemas.openxmlformats.org/officeDocument/2006/relationships/image" Target="../media/image61.png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58.jpe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2.png"/><Relationship Id="rId8" Type="http://schemas.openxmlformats.org/officeDocument/2006/relationships/image" Target="../media/image71.svg"/><Relationship Id="rId7" Type="http://schemas.openxmlformats.org/officeDocument/2006/relationships/image" Target="../media/image70.png"/><Relationship Id="rId6" Type="http://schemas.openxmlformats.org/officeDocument/2006/relationships/image" Target="../media/image16.svg"/><Relationship Id="rId5" Type="http://schemas.openxmlformats.org/officeDocument/2006/relationships/image" Target="../media/image69.png"/><Relationship Id="rId4" Type="http://schemas.openxmlformats.org/officeDocument/2006/relationships/image" Target="../media/image7.svg"/><Relationship Id="rId3" Type="http://schemas.openxmlformats.org/officeDocument/2006/relationships/image" Target="../media/image68.png"/><Relationship Id="rId2" Type="http://schemas.openxmlformats.org/officeDocument/2006/relationships/image" Target="../media/image67.jpe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3.svg"/><Relationship Id="rId11" Type="http://schemas.openxmlformats.org/officeDocument/2006/relationships/image" Target="../media/image74.png"/><Relationship Id="rId10" Type="http://schemas.openxmlformats.org/officeDocument/2006/relationships/image" Target="../media/image73.sv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5" Type="http://schemas.openxmlformats.org/officeDocument/2006/relationships/image" Target="../media/image77.png"/><Relationship Id="rId4" Type="http://schemas.openxmlformats.org/officeDocument/2006/relationships/image" Target="../media/image18.svg"/><Relationship Id="rId3" Type="http://schemas.openxmlformats.org/officeDocument/2006/relationships/image" Target="../media/image76.png"/><Relationship Id="rId2" Type="http://schemas.openxmlformats.org/officeDocument/2006/relationships/image" Target="../media/image75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5.svg"/><Relationship Id="rId6" Type="http://schemas.openxmlformats.org/officeDocument/2006/relationships/image" Target="../media/image79.png"/><Relationship Id="rId5" Type="http://schemas.openxmlformats.org/officeDocument/2006/relationships/image" Target="../media/image51.svg"/><Relationship Id="rId4" Type="http://schemas.openxmlformats.org/officeDocument/2006/relationships/image" Target="../media/image78.png"/><Relationship Id="rId3" Type="http://schemas.openxmlformats.org/officeDocument/2006/relationships/image" Target="../media/image18.svg"/><Relationship Id="rId2" Type="http://schemas.openxmlformats.org/officeDocument/2006/relationships/image" Target="../media/image76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image" Target="../media/image42.svg"/><Relationship Id="rId5" Type="http://schemas.openxmlformats.org/officeDocument/2006/relationships/image" Target="../media/image77.png"/><Relationship Id="rId4" Type="http://schemas.openxmlformats.org/officeDocument/2006/relationships/image" Target="../media/image40.svg"/><Relationship Id="rId3" Type="http://schemas.openxmlformats.org/officeDocument/2006/relationships/image" Target="../media/image81.png"/><Relationship Id="rId2" Type="http://schemas.openxmlformats.org/officeDocument/2006/relationships/image" Target="../media/image80.jpe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svg"/><Relationship Id="rId8" Type="http://schemas.openxmlformats.org/officeDocument/2006/relationships/image" Target="../media/image87.png"/><Relationship Id="rId7" Type="http://schemas.openxmlformats.org/officeDocument/2006/relationships/image" Target="../media/image86.svg"/><Relationship Id="rId6" Type="http://schemas.openxmlformats.org/officeDocument/2006/relationships/image" Target="../media/image85.png"/><Relationship Id="rId5" Type="http://schemas.openxmlformats.org/officeDocument/2006/relationships/image" Target="../media/image33.svg"/><Relationship Id="rId4" Type="http://schemas.openxmlformats.org/officeDocument/2006/relationships/image" Target="../media/image74.png"/><Relationship Id="rId3" Type="http://schemas.openxmlformats.org/officeDocument/2006/relationships/image" Target="../media/image44.svg"/><Relationship Id="rId2" Type="http://schemas.openxmlformats.org/officeDocument/2006/relationships/image" Target="../media/image84.png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6.svg"/><Relationship Id="rId7" Type="http://schemas.openxmlformats.org/officeDocument/2006/relationships/image" Target="../media/image85.png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7.svg"/><Relationship Id="rId3" Type="http://schemas.openxmlformats.org/officeDocument/2006/relationships/image" Target="../media/image68.png"/><Relationship Id="rId2" Type="http://schemas.openxmlformats.org/officeDocument/2006/relationships/image" Target="../media/image89.jpeg"/><Relationship Id="rId10" Type="http://schemas.openxmlformats.org/officeDocument/2006/relationships/notesSlide" Target="../notesSlides/notesSlide17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8.svg"/><Relationship Id="rId7" Type="http://schemas.openxmlformats.org/officeDocument/2006/relationships/image" Target="../media/image97.png"/><Relationship Id="rId6" Type="http://schemas.openxmlformats.org/officeDocument/2006/relationships/image" Target="../media/image96.svg"/><Relationship Id="rId5" Type="http://schemas.openxmlformats.org/officeDocument/2006/relationships/image" Target="../media/image95.png"/><Relationship Id="rId4" Type="http://schemas.openxmlformats.org/officeDocument/2006/relationships/image" Target="../media/image94.svg"/><Relationship Id="rId3" Type="http://schemas.openxmlformats.org/officeDocument/2006/relationships/image" Target="../media/image93.png"/><Relationship Id="rId2" Type="http://schemas.openxmlformats.org/officeDocument/2006/relationships/image" Target="../media/image92.jpe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1.jpeg"/><Relationship Id="rId7" Type="http://schemas.openxmlformats.org/officeDocument/2006/relationships/image" Target="../media/image100.svg"/><Relationship Id="rId6" Type="http://schemas.openxmlformats.org/officeDocument/2006/relationships/image" Target="../media/image99.png"/><Relationship Id="rId5" Type="http://schemas.openxmlformats.org/officeDocument/2006/relationships/image" Target="../media/image55.svg"/><Relationship Id="rId4" Type="http://schemas.openxmlformats.org/officeDocument/2006/relationships/image" Target="../media/image79.png"/><Relationship Id="rId3" Type="http://schemas.openxmlformats.org/officeDocument/2006/relationships/image" Target="../media/image7.svg"/><Relationship Id="rId2" Type="http://schemas.openxmlformats.org/officeDocument/2006/relationships/image" Target="../media/image68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全椒县县级验收管理平台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429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使用培训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第二轮土地承包到期后再延长三十年试点工作成果检查验收系统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10160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02995" y="56134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日期：2026年9月15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778000" y="1803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系统概述与快速入门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系统登录指引 · 首页功能概览 · 基础操作演示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8194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0099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29718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任务管理与抽样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自查申请流程 · 随机/定向/专项三种抽样方式详解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9878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1783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41402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内业核查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多维度核查指标 · 评分标准解读 · 核查附件导出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1562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53467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5308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外业核查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现场实地核查操作 · 现场取证与问询笔录记录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184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1803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得分评定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实时得分看板 · 综合评分计算 · 最终结果评定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28194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30099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0" y="29718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自查整改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整改通知下发 · 整改情况反馈 · 销号台账管理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39878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13500" y="41783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239000" y="41402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批量导出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多格式报表生成 · 一键打包下载 · 数据归档备份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23000" y="5156200"/>
            <a:ext cx="5207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53467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08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39000" y="5308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系统设置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用户权限配置 · 数据安全管理 · 基础数据入库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系统概述与快速入门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5460" r="5460"/>
          <a:stretch>
            <a:fillRect/>
          </a:stretch>
        </p:blipFill>
        <p:spPr>
          <a:xfrm>
            <a:off x="762000" y="1778000"/>
            <a:ext cx="4826000" cy="2717800"/>
          </a:xfrm>
          <a:prstGeom prst="roundRect">
            <a:avLst>
              <a:gd name="adj" fmla="val 560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系统登录界面采用直观的卡片式设计，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绿色主题呼应农业与生态理念，操作一目了然。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0" y="1778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794500" y="1905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访问方式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打开浏览器，输入系统指定的官方访问网址，即可进入登录入口。支持Chrome、Edge、Safari等主流浏览器，确保稳定访问。</a:t>
            </a:r>
            <a:endParaRPr lang="en-US" sz="1400" b="0" i="0" u="none" strike="noStrike">
              <a:solidFill>
                <a:srgbClr val="37415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32385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342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94500" y="33655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登录流程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依次输入管理员或操作员的专属账号与密码，仔细核对信息无误后，点击「登录」按钮，验证通过后自动跳转至系统主界面。</a:t>
            </a:r>
            <a:endParaRPr lang="en-US" sz="1400" b="0" i="0" u="none" strike="noStrike">
              <a:solidFill>
                <a:srgbClr val="37415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0" y="4699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500" y="488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94500" y="4826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界面特点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采用清新自然的绿色为主色调，贴合农业主题；布局极简直观，仅保留核心功能，降低操作门槛，提升用户体验与效率。</a:t>
            </a:r>
            <a:endParaRPr lang="en-US" sz="1400" b="0" i="0" u="none" strike="noStrike">
              <a:solidFill>
                <a:srgbClr val="374151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系统概述与快速入门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1" b="31"/>
          <a:stretch>
            <a:fillRect/>
          </a:stretch>
        </p:blipFill>
        <p:spPr>
          <a:xfrm>
            <a:off x="762000" y="1778000"/>
            <a:ext cx="4064000" cy="3048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工作台界面直观简洁，七大核心功能入口一目了然，操作便捷高效，助力快速上手，开启验收管理全流程。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1778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系统首页概览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0" y="2286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系统首页是验收管理工作的总枢纽，集成了全流程核心功能模块，实现从任务发起、实地核查到结果评定的一站式数字化管控，逻辑清晰，闭环管理。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3175000"/>
            <a:ext cx="29845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3327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867400" y="32766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系统设置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配置用户权限、账号及基础参数，筑牢管理安全基石。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334000" y="4127500"/>
            <a:ext cx="29845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0" y="42799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867400" y="42291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任务与抽样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发起自查申请，智能生成随机抽样方案，精准锁定核查对象。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334000" y="5080000"/>
            <a:ext cx="29845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0" y="5232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867400" y="51816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外业核查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实地核验地块现状与农户信息，确保数据真实可靠。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445500" y="3175000"/>
            <a:ext cx="29845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97900" y="3327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78900" y="32766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内业核查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审查申报材料、程序合规性及政策落实，严把文书规范。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445500" y="4127500"/>
            <a:ext cx="29845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97900" y="42799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978900" y="42291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得分评定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自动汇总核查结果，综合核算评分，生成客观验收结论。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445500" y="5080000"/>
            <a:ext cx="2984500" cy="914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97900" y="5232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978900" y="51816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整改与归档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下发整改通知跟踪落实，支持报告导出与资料归档。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任务管理与抽样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核心功能与角色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035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负责角色：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县级管理员，统筹县域内自查申请的发起、审核与归档全流程。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4699000" cy="787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34163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32766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全域申请状态查看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实时监控各乡镇及县级自查申请的提交进度与状态详情。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038600"/>
            <a:ext cx="4699000" cy="787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2799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41402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标准申请表下载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一键获取《土地承包到期后再延长三十年试点验收申请表》。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4902200"/>
            <a:ext cx="4699000" cy="7874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514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50038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材料扫描归档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接收乡镇提交的纸质申请表，上传扫描件完成电子化存档。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标准化操作流程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794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2921000"/>
            <a:ext cx="44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048500" y="2921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进入管理模块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登录系统后台，进入“任务管理”模块，定位自查申请入口。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953500" y="27940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080500" y="2921000"/>
            <a:ext cx="44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0" y="29210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选定目标乡镇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在“自查申请”标签页，通过筛选或列表选择对应的乡镇单位。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0" y="42545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4381500"/>
            <a:ext cx="44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048500" y="43815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下载空白表格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获取标准验收申请表，下发至乡镇指导填写，确保规范统一。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953500" y="4254500"/>
            <a:ext cx="23495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080500" y="4381500"/>
            <a:ext cx="44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525000" y="4381500"/>
            <a:ext cx="177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扫描件上传归档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审核乡镇提交的纸质材料，上传扫描件完成电子化归档保存。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通过规范化的自查申请管理，保障土地延包试点工作验收资料的完整性、规范性与可追溯性。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任务管理与抽样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86" r="86"/>
          <a:stretch>
            <a:fillRect/>
          </a:stretch>
        </p:blipFill>
        <p:spPr>
          <a:xfrm>
            <a:off x="762000" y="1651000"/>
            <a:ext cx="3175000" cy="3556000"/>
          </a:xfrm>
          <a:prstGeom prst="rect">
            <a:avLst/>
          </a:prstGeom>
          <a:noFill/>
          <a:ln w="381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203200" dist="76200" dir="2700000" algn="tl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397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图示：按村组手动抽样操作界面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45000" y="1651000"/>
            <a:ext cx="711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抽样管理：方式一 - 按村组手动抽样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2413000"/>
            <a:ext cx="7112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635500" y="2540000"/>
            <a:ext cx="673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适用于需要对特定村组进行精准核查、定向抽检的场景，可灵活把控抽样范围与样本数量，确保抽样的针对性与有效性。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3429000"/>
            <a:ext cx="3429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3619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355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选择抽样模式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选定“按村组手动抽样5%”模式，开启精准抽样流程。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64500" y="3429000"/>
            <a:ext cx="3429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3619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355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逐级定位村组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依次选择“乡镇 → 村 → 村民小组”，精准锁定目标区域。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445000" y="4445000"/>
            <a:ext cx="3429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4635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016500" y="457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自动统计基数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系统自动加载该村民小组的承包方总户数，作为抽样基数。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064500" y="4445000"/>
            <a:ext cx="3429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55000" y="4635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636000" y="4572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灵活设定样本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手动指定抽样数，或默认按5%比例（向上取整）随机抽取。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445000" y="5524500"/>
            <a:ext cx="70485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5689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016500" y="56134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执行抽样：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点击“开始抽样并生成统计表”，系统即刻生成抽样结果与分析报表。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任务管理与抽样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82" b="82"/>
          <a:stretch>
            <a:fillRect/>
          </a:stretch>
        </p:blipFill>
        <p:spPr>
          <a:xfrm>
            <a:off x="762000" y="1651000"/>
            <a:ext cx="3556000" cy="339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系统自动执行抽样逻辑，确保过程公平、公正、透明，减少人为干预。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1651000"/>
            <a:ext cx="685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抽样管理：方式二 - 按乡镇自动抽样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0" y="2286000"/>
            <a:ext cx="6858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889500" y="2387600"/>
            <a:ext cx="647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适用于对整个乡镇范围进行全覆盖式的随机抽查，需要快速、公正地获取具有代表性的农户样本数据，无需手动指定具体村组的场景。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99000" y="3302000"/>
            <a:ext cx="685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操作步骤详解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810000"/>
            <a:ext cx="2159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400" y="39624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396240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选择模式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51400" y="4343400"/>
            <a:ext cx="1854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勾选“按乡镇自动抽组及5%农户”选项，开启自动抽样流程。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921500" y="3810000"/>
            <a:ext cx="2159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3900" y="39624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29500" y="396240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选定乡镇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73900" y="4343400"/>
            <a:ext cx="1854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从下拉列表中精准选择需要开展抽样工作的目标乡镇。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44000" y="3810000"/>
            <a:ext cx="21590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96400" y="39624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652000" y="3962400"/>
            <a:ext cx="1651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自动分组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96400" y="4343400"/>
            <a:ext cx="18542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系统随机筛选该乡镇内的2-5个村民小组作为抽样单元。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51435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1400" y="52959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207000" y="5295900"/>
            <a:ext cx="279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智能抽取样本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851400" y="56769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在选中小组内按5%比例（向上取整）随机抽取承包方，确保样本代表性。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51435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53400" y="52959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509000" y="5295900"/>
            <a:ext cx="279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生成抽样报表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153400" y="5676900"/>
            <a:ext cx="2997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点击“开始抽样”按钮，系统自动完成数据计算并生成统计报表。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任务管理与抽样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31" b="31"/>
          <a:stretch>
            <a:fillRect/>
          </a:stretch>
        </p:blipFill>
        <p:spPr>
          <a:xfrm>
            <a:off x="762000" y="1778000"/>
            <a:ext cx="3556000" cy="3365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334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▲ 系统抽样导入界面示意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778000"/>
            <a:ext cx="660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抽样管理：方式三 - 按导入表格抽样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826000" y="2540000"/>
            <a:ext cx="660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273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461000" y="2667000"/>
            <a:ext cx="590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适用于已有明确抽样名单，需批量导入系统的场景。通过表格导入可精准匹配发包方与农户信息，灵活适配专项检查或特殊抽样需求，大幅提升抽样效率。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3746500"/>
            <a:ext cx="6604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3937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61000" y="3873500"/>
            <a:ext cx="590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表格规范：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表格必须包含表头：发包方编码、乡镇名、村名、组名、抽样农户数。若“抽样农户数”留空，系统默认按该发包方农户总数的5%抽取；填写具体数值则按实际数量抽取。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826000" y="5143500"/>
            <a:ext cx="2108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826000" y="5143500"/>
            <a:ext cx="210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89500" y="5270500"/>
            <a:ext cx="1981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选择模式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进入抽样管理模块，选定“按导入表格抽样”模式，准备上传。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061200" y="5143500"/>
            <a:ext cx="2108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061200" y="5143500"/>
            <a:ext cx="210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124700" y="5270500"/>
            <a:ext cx="1981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上传文件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点击“上传文件”按钮，选择已按规范整理好的Excel表格文件。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9296400" y="5143500"/>
            <a:ext cx="2108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296400" y="5143500"/>
            <a:ext cx="2108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359900" y="5270500"/>
            <a:ext cx="1981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生成统计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确认信息无误后，点击“开始抽样”，系统自动完成并生成统计表。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内业核查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核查对象：</a:t>
            </a:r>
            <a:r>
              <a:rPr lang="en-US" sz="16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针对县级行政单位或具体乡镇级行政区域，开展全方位的软件资料规范性审查。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60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235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机制运行 (15分)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30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重点审查工作方案制定、专项经费落实、宣传培训覆盖及人员配备等基础保障措施，确保组织架构健全。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60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2235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程序规范 (30分)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730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核查成立专项机构、摸底核实、方案制定、合同签订等关键流程，确保每个环节符合法定程序与规范。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810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38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013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政策落实 (15分)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508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检查“大稳定、小调整”原则执行情况，重点关注特殊群体权益保障、补偿补助政策兑现等落实成效。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810000"/>
            <a:ext cx="5207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038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4013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工作成效 (10分)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508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评估风险防范机制建设、矛盾纠纷排查化解成效，以及工作台账、档案资料的归档规范与完整程度。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880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57404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操作指引：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系统支持按实际情况勾选问题并自动扣分；所有扣分项目需拍照上传佐证材料，确保核查过程“有据可依、全程留痕”，实现数字化留档。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内业核查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315" r="315"/>
          <a:stretch>
            <a:fillRect/>
          </a:stretch>
        </p:blipFill>
        <p:spPr>
          <a:xfrm>
            <a:off x="762000" y="1778000"/>
            <a:ext cx="2921000" cy="4064000"/>
          </a:xfrm>
          <a:prstGeom prst="rect">
            <a:avLst/>
          </a:prstGeom>
          <a:noFill/>
          <a:ln w="381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90500" dist="762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191000" y="1778000"/>
            <a:ext cx="723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0066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080000" y="19304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实时评分 · 动态反馈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0" y="2336800"/>
            <a:ext cx="622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系统自动计算并实时展示当前核查对象的内业得分，扣分结果即时同步，数据透明可追溯，确保评分过程客观公正、公开透明。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191000" y="3238500"/>
            <a:ext cx="723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34671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33909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凭证上传 · 全程留痕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0" y="3797300"/>
            <a:ext cx="622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针对每一项扣分点，支持现场拍照或文件上传作为佐证材料，实现电子化归档留存，为核查结果提供坚实的事实依据，杜绝不实扣分。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191000" y="4699000"/>
            <a:ext cx="7239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000" y="49276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80000" y="48514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多维表单 · 体系完备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0" y="5257800"/>
            <a:ext cx="622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表单科学划分为机制运行、程序规范、政策落实、工作成效四大核心模块，每个模块下设具体检查子项与明确扣分标准，确保核查内容全面覆盖、无遗漏。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内业核查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70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336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2336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乡镇级核查表导出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367">
            <a:off x="1066809" y="2914650"/>
            <a:ext cx="4660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66800" y="3111500"/>
            <a:ext cx="46609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核查对象：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选定具体乡镇，可导出《全椒县县级自查内业组检查记录表》（附件6）。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核心内容：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详实记录每个核查子项的检查元素、存在问题、扣分说明及扣分小计，形成完整的乡镇级核查档案，为问题整改提供精准依据。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59500" y="2032000"/>
            <a:ext cx="5270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4300" y="2336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97700" y="23368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县级汇总表导出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367">
            <a:off x="6464309" y="2914650"/>
            <a:ext cx="4660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64300" y="3111500"/>
            <a:ext cx="46609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核查对象：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选定“县级”维度，可导出《全椒县县级自查内业组检查得分表》（附件7）。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 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汇总全县及各乡镇在内业核查各模块的得分情况，直观呈现整体质量水平，便于县级层面进行横向对比分析与统筹评估。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7404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导出说明：</a:t>
            </a:r>
            <a:r>
              <a:rPr lang="en-US" sz="1400" b="0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系统支持按乡镇或县级维度灵活导出报表，实现从微观问题记录到宏观数据汇总的全方位管理，确保核查成果可追溯、可分析。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外业核查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506" b="1506"/>
          <a:stretch>
            <a:fillRect/>
          </a:stretch>
        </p:blipFill>
        <p:spPr>
          <a:xfrm>
            <a:off x="762000" y="1651000"/>
            <a:ext cx="3048000" cy="4064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90500" dist="762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191000" y="1651000"/>
            <a:ext cx="736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4381500" y="1803400"/>
            <a:ext cx="698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核查对象与目标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81500" y="2222500"/>
            <a:ext cx="698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依据前期抽样结果，对抽取的农户家庭及承包地块进行实地走访核验，通过面对面核实，确保确权登记基础数据的真实性、准确性与完整性。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2984500"/>
            <a:ext cx="736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381500" y="3136900"/>
            <a:ext cx="698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核心核查指标体系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3619500"/>
            <a:ext cx="34925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374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889500" y="3721100"/>
            <a:ext cx="298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农户信息核验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重点核对权属真实性、成员资格有效性、签字确认、联系方式准确性及满意度评价。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37500" y="3619500"/>
            <a:ext cx="34925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500" y="3746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445500" y="3721100"/>
            <a:ext cx="298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地块实地核检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实地确认地块面积、名称、四至边界，现场指界并核实农户对面积的认可情况。</a:t>
            </a:r>
            <a:endParaRPr lang="en-US" sz="13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191000" y="4889500"/>
            <a:ext cx="736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381500" y="5041900"/>
            <a:ext cx="698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数字化操作流程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81500" y="5461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8500" y="55880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851400" y="55626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精准检索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系统快速定位农户地块档案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731000" y="5461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FEF2F2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58000" y="55880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200900" y="55626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问题标记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一键标记错误项，高效记录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080500" y="5461000"/>
            <a:ext cx="2286000" cy="762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07500" y="5588000"/>
            <a:ext cx="279400" cy="279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550400" y="55626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自动评分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系统自动核算考核得分</a:t>
            </a:r>
            <a:endParaRPr lang="en-US" sz="12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外业核查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96" r="196"/>
          <a:stretch>
            <a:fillRect/>
          </a:stretch>
        </p:blipFill>
        <p:spPr>
          <a:xfrm>
            <a:off x="762000" y="1651000"/>
            <a:ext cx="4318000" cy="2667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762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图示：系统外业核查与附件导出功能界面，支持从单户明细到全县汇总的多维度数据一键导出，操作便捷高效。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1651000"/>
            <a:ext cx="609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1879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223000" y="18796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发包方级：单户核查记录（附件8）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5000" y="23876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在“外业核查”标签页，可针对单个发包方导出详细的《检查记录表》。该表完整记录了抽样农户的各项核查指标、对错判定及满意度评价，实现核查过程的“一户一档”精准留痕，是外业核查的基础档案凭证。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461000" y="3937000"/>
            <a:ext cx="6096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4165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223000" y="41656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县级汇总：全域得分统计（附件9）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15000" y="4673600"/>
            <a:ext cx="558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切换至“附件导出”模块并选择“县级”，可一键导出全县核查汇总表。系统自动整合各乡镇、村组的核查数据，生成可视化的得分统计表，为县级层面的整体评估、成效分析及决策部署提供全面的数据支撑。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外业核查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108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作为项目验收的关键补充证据，规范记录与农户的访谈问询全过程。通过标准化的记录方式，确保每一份问询内容真实、完整、可追溯，为最终的验收结论提供详实的佐证材料。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942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095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56200" y="2108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五步规范流程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48200" y="2794000"/>
            <a:ext cx="28702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 切换至“现场问询”标签页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 选定被询问人（承包方）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3. 填写姓名、地点等基础信息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4. 依据清单问询并记录答复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5. 保存记录并导出标准文档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26400" y="1778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095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88400" y="21082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规范法律效力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80400" y="2794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笔录内容涵盖身份核实、问询详情及签字确认等核心要素，格式严格遵循行业规范。具备法定证据效力，有效规避验收过程中的信息失真风险，为项目验收提供坚实的法律保障。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7658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规范留痕 · 有据可依 · 合规验收 —— 让每一份问询笔录都成为项目质量的坚实基石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得分评定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426" b="426"/>
          <a:stretch>
            <a:fillRect/>
          </a:stretch>
        </p:blipFill>
        <p:spPr>
          <a:xfrm>
            <a:off x="762000" y="1651000"/>
            <a:ext cx="3048000" cy="43180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203200" dist="76200" dir="2700000" algn="tl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318000" y="1651000"/>
            <a:ext cx="711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8796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143500" y="18034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功能定位：核心汇总与评定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作为验收工作的中枢环节，系统自动归集全县各乡镇的内业资料审查与外业实地核查数据，进行标准化加权计算，形成客观公正的综合评定结果，为验收结论提供坚实的数据支撑。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18000" y="3175000"/>
            <a:ext cx="711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403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43500" y="33274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可视化看板：实时动态核算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直观呈现内业（机制运行、程序规范、风险防范）与外业（程序合规、群众满意度）的分项得分详情，系统实时计算并更新自查总分，实现评分数据的透明化与可视化，便于快速掌握整体达标情况。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4699000"/>
            <a:ext cx="711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49276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43500" y="48514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动态扣减：确保评定公正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针对方案执行不严、核查走过场等特殊情形，可灵活配置并执行额外扣分（如扣0.5分或1分）。系统自动将扣减分值从自查总分中剔除，保障评定结果的严肃性与公平性，杜绝形式主义。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得分评定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最终评定与附件导出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智能评定，客观公正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857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系统基于最终综合得分自动判定验收等级（优秀/合格），摒弃人为主观因素，确保评定结果真实反映工作成效，为验收结论提供坚实的数据支撑。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2032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228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附件10：自查得分汇总表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857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详细汇总全县及各乡镇的每一项评分细节，清晰呈现得分构成与扣分原因，是验收工作的基础数据档案，便于后续追溯、复核与分析。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附件11：自查验收评定表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016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承载最终验收总分与定性结论，是验收工作的核心成果文件，具有权威性和存档价值，作为验收通过与否的正式凭证，纳入工作档案。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86500" y="4191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445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44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结论赋能，驱动提升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5016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验收结果将纳入年度考核体系，作为评优评先的关键依据。同时，通过数据分析反哺工作短板，指导后续整改优化，持续提升整体工作规范化水平。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 自查整改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666" r="666"/>
          <a:stretch>
            <a:fillRect/>
          </a:stretch>
        </p:blipFill>
        <p:spPr>
          <a:xfrm>
            <a:off x="762000" y="1524000"/>
            <a:ext cx="4826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482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43815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功能定位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针对内、外业核查中发现的问题，系统支持一键下发整改通知，并实时跟踪整改进度，确保每一个问题都能得到有效整改，形成完整的工作闭环管理体系。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969000" y="1524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3000" y="1714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731000" y="16764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明确整改责任与时限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精准定位整改责任单位，明确整改期限与具体目标要求，确保整改任务可量化、可追溯，从源头杜绝责任推诿现象。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969000" y="29210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3000" y="311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31000" y="30734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自动汇总核查问题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系统自动归集内、外业核查标记的各类问题，生成结构化台账，避免人工统计遗漏，大幅提升问题梳理与统计效率。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969000" y="4318000"/>
            <a:ext cx="558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3000" y="4508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31000" y="44704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规范文书与闭环管理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一键导出《整改通知书》正式下发；配套生成《问题整改销号台账》，详细记录整改措施、完成时限及复核结果，实现从问题发现、整改落实到结果销号的全流程闭环管理。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07 批量导出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222" r="222"/>
          <a:stretch>
            <a:fillRect/>
          </a:stretch>
        </p:blipFill>
        <p:spPr>
          <a:xfrm>
            <a:off x="762000" y="1651000"/>
            <a:ext cx="3556000" cy="3175000"/>
          </a:xfrm>
          <a:prstGeom prst="roundRect">
            <a:avLst>
              <a:gd name="adj" fmla="val 48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1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可视化操作面板，支持灵活勾选所需附件，一键生成并下载 ZIP 压缩包，高效完成资料归档。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1651000"/>
            <a:ext cx="6858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3000" y="1841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461000" y="1778000"/>
            <a:ext cx="596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功能定位：一站式归档解决方案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提供便捷的批量导出功能，将所需的所有验收附件一键打包成 ZIP 文件，满足项目归档、上报等多场景需求，大幅提升工作效率。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99000" y="2921000"/>
            <a:ext cx="685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多级覆盖，按需精准导出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3365500"/>
            <a:ext cx="3302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89500" y="355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70500" y="34925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县级汇总视图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导出内业/外业得分表、得分汇总表及验收评定表，聚焦县级层面的整体验收成果。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3365500"/>
            <a:ext cx="3302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3556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34925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乡镇级全套资料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涵盖申请表、抽样表、核查表、询问笔录及整改通知书，实现单乡镇资料的全量导出。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826000"/>
            <a:ext cx="685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极简操作流程，轻松上手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5270500"/>
            <a:ext cx="1587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99000" y="5270500"/>
            <a:ext cx="158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进入导出模块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5270500"/>
            <a:ext cx="1587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5270500"/>
            <a:ext cx="158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选择导出层级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5270500"/>
            <a:ext cx="1587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28000" y="5270500"/>
            <a:ext cx="158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勾选所需附件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842500" y="5270500"/>
            <a:ext cx="1587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842500" y="5270500"/>
            <a:ext cx="158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打包生成下载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08 系统设置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796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权限管理体系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87500" y="23114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支持用户账号的新增、删除及精细化权限配置；支持通过TXT文件批量导入账号，高效完成人员与权限的统一管理。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306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353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安全与隐私保障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87500" y="39624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提供自主密码修改功能，强化账号安全管理；系统操作全程留痕，确保数据访问的合规性与用户隐私安全。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1816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5181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基础数据接入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87500" y="56134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面向县级验收实施单位，支持MDB、Shapefile、Excel表格等多源数据格式导入，构建验收工作的核心数据底座。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t="23" b="23"/>
          <a:stretch>
            <a:fillRect/>
          </a:stretch>
        </p:blipFill>
        <p:spPr>
          <a:xfrm>
            <a:off x="6350000" y="1905000"/>
            <a:ext cx="5080000" cy="2984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27000" dist="50800" dir="2700000" algn="tl">
              <a:srgbClr val="000000">
                <a:alpha val="10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350000" y="5143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可视化的数据入库界面，操作直观便捷。支持从指定目录批量读取权属代码表、地块矢量及承包方信息，一键写入系统数据库，为后续的验收核查提供坚实的数据支撑。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44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5175</Words>
  <Application>WPS 演示</Application>
  <PresentationFormat/>
  <Paragraphs>387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Dare to be different</cp:lastModifiedBy>
  <cp:revision>2</cp:revision>
  <dcterms:created xsi:type="dcterms:W3CDTF">2026-09-15T05:10:02Z</dcterms:created>
  <dcterms:modified xsi:type="dcterms:W3CDTF">2026-09-15T05:12:10Z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{"Label":"1","ContentProducer":"001191110102MACQD9K64010000","ProduceID":"7685623921789782977","ReservedCode1":"","ContentPropagator":"","PropagateID":"","ReservedCode2":""}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1108D4A388DD4CAC9F9A53EEB5E0411F_12</vt:lpwstr>
  </property>
</Properties>
</file>